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98" r:id="rId4"/>
    <p:sldId id="259" r:id="rId5"/>
    <p:sldId id="256" r:id="rId6"/>
    <p:sldId id="261" r:id="rId7"/>
    <p:sldId id="262" r:id="rId8"/>
    <p:sldId id="266" r:id="rId9"/>
    <p:sldId id="299" r:id="rId10"/>
    <p:sldId id="264" r:id="rId11"/>
    <p:sldId id="269" r:id="rId12"/>
    <p:sldId id="267" r:id="rId13"/>
    <p:sldId id="268" r:id="rId14"/>
    <p:sldId id="265" r:id="rId15"/>
    <p:sldId id="300" r:id="rId16"/>
    <p:sldId id="272" r:id="rId17"/>
    <p:sldId id="273" r:id="rId18"/>
    <p:sldId id="301" r:id="rId19"/>
    <p:sldId id="276" r:id="rId20"/>
    <p:sldId id="275" r:id="rId21"/>
    <p:sldId id="302" r:id="rId22"/>
    <p:sldId id="274" r:id="rId23"/>
    <p:sldId id="303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4" r:id="rId32"/>
    <p:sldId id="295" r:id="rId33"/>
    <p:sldId id="296" r:id="rId34"/>
    <p:sldId id="29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5811" autoAdjust="0"/>
    <p:restoredTop sz="94660" autoAdjust="0"/>
  </p:normalViewPr>
  <p:slideViewPr>
    <p:cSldViewPr snapToGrid="0">
      <p:cViewPr varScale="1">
        <p:scale>
          <a:sx n="72" d="100"/>
          <a:sy n="72" d="100"/>
        </p:scale>
        <p:origin x="-126" y="-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8" y="38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1EB9E7-52B8-43E0-A5EF-3DADD9DD1F98}" type="doc">
      <dgm:prSet loTypeId="urn:microsoft.com/office/officeart/2005/8/layout/chevron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653B162-DC96-4AFA-BA71-5AD2B539A756}">
      <dgm:prSet phldrT="[Text]"/>
      <dgm:spPr/>
      <dgm:t>
        <a:bodyPr/>
        <a:lstStyle/>
        <a:p>
          <a:r>
            <a:rPr lang="en-US" dirty="0"/>
            <a:t>HEPP implementation</a:t>
          </a:r>
        </a:p>
      </dgm:t>
    </dgm:pt>
    <dgm:pt modelId="{0A716426-A802-4CA3-ACE7-395C8418F67F}" type="parTrans" cxnId="{79E11A80-7FBA-4C52-9EE3-3C43769549D3}">
      <dgm:prSet/>
      <dgm:spPr/>
      <dgm:t>
        <a:bodyPr/>
        <a:lstStyle/>
        <a:p>
          <a:endParaRPr lang="en-US"/>
        </a:p>
      </dgm:t>
    </dgm:pt>
    <dgm:pt modelId="{0CFAA1AC-5701-45BE-8119-2B2B49CE1D45}" type="sibTrans" cxnId="{79E11A80-7FBA-4C52-9EE3-3C43769549D3}">
      <dgm:prSet/>
      <dgm:spPr/>
      <dgm:t>
        <a:bodyPr/>
        <a:lstStyle/>
        <a:p>
          <a:endParaRPr lang="en-US"/>
        </a:p>
      </dgm:t>
    </dgm:pt>
    <dgm:pt modelId="{EB717AD6-3C8E-4698-80C7-1DB488844F34}">
      <dgm:prSet phldrT="[Text]"/>
      <dgm:spPr/>
      <dgm:t>
        <a:bodyPr/>
        <a:lstStyle/>
        <a:p>
          <a:r>
            <a:rPr lang="en-US" dirty="0"/>
            <a:t>Right knowledge and skills</a:t>
          </a:r>
        </a:p>
      </dgm:t>
    </dgm:pt>
    <dgm:pt modelId="{9E500BC3-D6E4-4F4F-ACB7-BCBB5A0400B8}" type="parTrans" cxnId="{28E30A85-67FE-417A-90E3-D5B9BA6365C5}">
      <dgm:prSet/>
      <dgm:spPr/>
      <dgm:t>
        <a:bodyPr/>
        <a:lstStyle/>
        <a:p>
          <a:endParaRPr lang="en-US"/>
        </a:p>
      </dgm:t>
    </dgm:pt>
    <dgm:pt modelId="{372880C2-387F-486A-9BC7-B277C9093673}" type="sibTrans" cxnId="{28E30A85-67FE-417A-90E3-D5B9BA6365C5}">
      <dgm:prSet/>
      <dgm:spPr/>
      <dgm:t>
        <a:bodyPr/>
        <a:lstStyle/>
        <a:p>
          <a:endParaRPr lang="en-US"/>
        </a:p>
      </dgm:t>
    </dgm:pt>
    <dgm:pt modelId="{A79D7B5E-1F8B-4E3C-A7E2-B66D3B7E4BA0}">
      <dgm:prSet phldrT="[Text]"/>
      <dgm:spPr/>
      <dgm:t>
        <a:bodyPr/>
        <a:lstStyle/>
        <a:p>
          <a:r>
            <a:rPr lang="en-US" dirty="0"/>
            <a:t>HHs produced and maintain their own health</a:t>
          </a:r>
        </a:p>
      </dgm:t>
    </dgm:pt>
    <dgm:pt modelId="{E62E412C-EB5F-4079-BC5C-24A68AA8E555}" type="parTrans" cxnId="{2AD74932-C98B-4FAE-9009-193D6E19CD68}">
      <dgm:prSet/>
      <dgm:spPr/>
      <dgm:t>
        <a:bodyPr/>
        <a:lstStyle/>
        <a:p>
          <a:endParaRPr lang="en-US"/>
        </a:p>
      </dgm:t>
    </dgm:pt>
    <dgm:pt modelId="{5BBC9FD2-4A56-41C3-8796-DA49E95E62BD}" type="sibTrans" cxnId="{2AD74932-C98B-4FAE-9009-193D6E19CD68}">
      <dgm:prSet/>
      <dgm:spPr/>
      <dgm:t>
        <a:bodyPr/>
        <a:lstStyle/>
        <a:p>
          <a:endParaRPr lang="en-US"/>
        </a:p>
      </dgm:t>
    </dgm:pt>
    <dgm:pt modelId="{2900419B-3B14-4440-AA4E-7A64F0466192}" type="pres">
      <dgm:prSet presAssocID="{461EB9E7-52B8-43E0-A5EF-3DADD9DD1F9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FAB3EF-08FE-4940-922B-D5BED1628928}" type="pres">
      <dgm:prSet presAssocID="{3653B162-DC96-4AFA-BA71-5AD2B539A756}" presName="parTxOnly" presStyleLbl="node1" presStyleIdx="0" presStyleCnt="3" custLinFactNeighborX="43786" custLinFactNeighborY="-6004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AC158F-B37B-4C0A-89F1-7D0A71E58026}" type="pres">
      <dgm:prSet presAssocID="{0CFAA1AC-5701-45BE-8119-2B2B49CE1D45}" presName="parTxOnlySpace" presStyleCnt="0"/>
      <dgm:spPr/>
    </dgm:pt>
    <dgm:pt modelId="{E7D37941-7579-4164-B6A9-C0C851BCB1B1}" type="pres">
      <dgm:prSet presAssocID="{EB717AD6-3C8E-4698-80C7-1DB488844F34}" presName="parTxOnly" presStyleLbl="node1" presStyleIdx="1" presStyleCnt="3" custLinFactX="-294" custLinFactNeighborX="-100000" custLinFactNeighborY="-6004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FB7B1E-0070-4200-BBBE-2EBDC4C3E320}" type="pres">
      <dgm:prSet presAssocID="{372880C2-387F-486A-9BC7-B277C9093673}" presName="parTxOnlySpace" presStyleCnt="0"/>
      <dgm:spPr/>
    </dgm:pt>
    <dgm:pt modelId="{1A21A8F3-1A61-4D5B-BB0A-6235B7D10E47}" type="pres">
      <dgm:prSet presAssocID="{A79D7B5E-1F8B-4E3C-A7E2-B66D3B7E4BA0}" presName="parTxOnly" presStyleLbl="node1" presStyleIdx="2" presStyleCnt="3" custLinFactX="-11617" custLinFactNeighborX="-100000" custLinFactNeighborY="-6090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AD74932-C98B-4FAE-9009-193D6E19CD68}" srcId="{461EB9E7-52B8-43E0-A5EF-3DADD9DD1F98}" destId="{A79D7B5E-1F8B-4E3C-A7E2-B66D3B7E4BA0}" srcOrd="2" destOrd="0" parTransId="{E62E412C-EB5F-4079-BC5C-24A68AA8E555}" sibTransId="{5BBC9FD2-4A56-41C3-8796-DA49E95E62BD}"/>
    <dgm:cxn modelId="{4740A5D6-DE78-4D9E-881B-9650D2A9E694}" type="presOf" srcId="{EB717AD6-3C8E-4698-80C7-1DB488844F34}" destId="{E7D37941-7579-4164-B6A9-C0C851BCB1B1}" srcOrd="0" destOrd="0" presId="urn:microsoft.com/office/officeart/2005/8/layout/chevron1"/>
    <dgm:cxn modelId="{28E30A85-67FE-417A-90E3-D5B9BA6365C5}" srcId="{461EB9E7-52B8-43E0-A5EF-3DADD9DD1F98}" destId="{EB717AD6-3C8E-4698-80C7-1DB488844F34}" srcOrd="1" destOrd="0" parTransId="{9E500BC3-D6E4-4F4F-ACB7-BCBB5A0400B8}" sibTransId="{372880C2-387F-486A-9BC7-B277C9093673}"/>
    <dgm:cxn modelId="{A400E38F-062B-4DDA-8975-27030C1AB5B3}" type="presOf" srcId="{3653B162-DC96-4AFA-BA71-5AD2B539A756}" destId="{79FAB3EF-08FE-4940-922B-D5BED1628928}" srcOrd="0" destOrd="0" presId="urn:microsoft.com/office/officeart/2005/8/layout/chevron1"/>
    <dgm:cxn modelId="{817EC5CF-7170-45F5-B455-A161DF54565D}" type="presOf" srcId="{A79D7B5E-1F8B-4E3C-A7E2-B66D3B7E4BA0}" destId="{1A21A8F3-1A61-4D5B-BB0A-6235B7D10E47}" srcOrd="0" destOrd="0" presId="urn:microsoft.com/office/officeart/2005/8/layout/chevron1"/>
    <dgm:cxn modelId="{53E6CEDB-A227-4453-BCD0-77F85C03446E}" type="presOf" srcId="{461EB9E7-52B8-43E0-A5EF-3DADD9DD1F98}" destId="{2900419B-3B14-4440-AA4E-7A64F0466192}" srcOrd="0" destOrd="0" presId="urn:microsoft.com/office/officeart/2005/8/layout/chevron1"/>
    <dgm:cxn modelId="{79E11A80-7FBA-4C52-9EE3-3C43769549D3}" srcId="{461EB9E7-52B8-43E0-A5EF-3DADD9DD1F98}" destId="{3653B162-DC96-4AFA-BA71-5AD2B539A756}" srcOrd="0" destOrd="0" parTransId="{0A716426-A802-4CA3-ACE7-395C8418F67F}" sibTransId="{0CFAA1AC-5701-45BE-8119-2B2B49CE1D45}"/>
    <dgm:cxn modelId="{D52F072B-C1EF-4E3F-B539-1579BB1D2D37}" type="presParOf" srcId="{2900419B-3B14-4440-AA4E-7A64F0466192}" destId="{79FAB3EF-08FE-4940-922B-D5BED1628928}" srcOrd="0" destOrd="0" presId="urn:microsoft.com/office/officeart/2005/8/layout/chevron1"/>
    <dgm:cxn modelId="{4D7AA967-ECBD-4935-9166-FD52590258C3}" type="presParOf" srcId="{2900419B-3B14-4440-AA4E-7A64F0466192}" destId="{69AC158F-B37B-4C0A-89F1-7D0A71E58026}" srcOrd="1" destOrd="0" presId="urn:microsoft.com/office/officeart/2005/8/layout/chevron1"/>
    <dgm:cxn modelId="{5EA4906E-7764-40BD-9931-8F4D0307545C}" type="presParOf" srcId="{2900419B-3B14-4440-AA4E-7A64F0466192}" destId="{E7D37941-7579-4164-B6A9-C0C851BCB1B1}" srcOrd="2" destOrd="0" presId="urn:microsoft.com/office/officeart/2005/8/layout/chevron1"/>
    <dgm:cxn modelId="{340175CD-A645-4F00-826B-F0F862AE1E55}" type="presParOf" srcId="{2900419B-3B14-4440-AA4E-7A64F0466192}" destId="{39FB7B1E-0070-4200-BBBE-2EBDC4C3E320}" srcOrd="3" destOrd="0" presId="urn:microsoft.com/office/officeart/2005/8/layout/chevron1"/>
    <dgm:cxn modelId="{AC78D2C1-DB9C-46C4-9754-F73D89EEF55D}" type="presParOf" srcId="{2900419B-3B14-4440-AA4E-7A64F0466192}" destId="{1A21A8F3-1A61-4D5B-BB0A-6235B7D10E47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AB3EF-08FE-4940-922B-D5BED1628928}">
      <dsp:nvSpPr>
        <dsp:cNvPr id="0" name=""/>
        <dsp:cNvSpPr/>
      </dsp:nvSpPr>
      <dsp:spPr>
        <a:xfrm>
          <a:off x="167425" y="0"/>
          <a:ext cx="3753370" cy="150134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HEPP implementation</a:t>
          </a:r>
        </a:p>
      </dsp:txBody>
      <dsp:txXfrm>
        <a:off x="918099" y="0"/>
        <a:ext cx="2252022" cy="1501348"/>
      </dsp:txXfrm>
    </dsp:sp>
    <dsp:sp modelId="{E7D37941-7579-4164-B6A9-C0C851BCB1B1}">
      <dsp:nvSpPr>
        <dsp:cNvPr id="0" name=""/>
        <dsp:cNvSpPr/>
      </dsp:nvSpPr>
      <dsp:spPr>
        <a:xfrm>
          <a:off x="2994742" y="0"/>
          <a:ext cx="3753370" cy="150134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Right knowledge and skills</a:t>
          </a:r>
        </a:p>
      </dsp:txBody>
      <dsp:txXfrm>
        <a:off x="3745416" y="0"/>
        <a:ext cx="2252022" cy="1501348"/>
      </dsp:txXfrm>
    </dsp:sp>
    <dsp:sp modelId="{1A21A8F3-1A61-4D5B-BB0A-6235B7D10E47}">
      <dsp:nvSpPr>
        <dsp:cNvPr id="0" name=""/>
        <dsp:cNvSpPr/>
      </dsp:nvSpPr>
      <dsp:spPr>
        <a:xfrm>
          <a:off x="5947782" y="0"/>
          <a:ext cx="3753370" cy="1501348"/>
        </a:xfrm>
        <a:prstGeom prst="chevr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HHs produced and maintain their own health</a:t>
          </a:r>
        </a:p>
      </dsp:txBody>
      <dsp:txXfrm>
        <a:off x="6698456" y="0"/>
        <a:ext cx="2252022" cy="1501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86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96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207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284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2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1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15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43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894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69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49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13306-426A-488A-A651-4F042CE0B2F5}" type="datetimeFigureOut">
              <a:rPr lang="en-US" smtClean="0"/>
              <a:pPr/>
              <a:t>6/7/2017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BD3BA-7D91-45E4-B543-5955E48780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480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456" y="0"/>
            <a:ext cx="10397544" cy="203486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456" y="2743200"/>
            <a:ext cx="11165983" cy="425002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endParaRPr lang="en-US" sz="1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05" y="596348"/>
            <a:ext cx="7440069" cy="535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138" y="210578"/>
            <a:ext cx="10515600" cy="1325563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54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Health Extension Package Completion and Mothers' Health Seeking Behavior for common childhood illnes in, west Gojjam, Ethiopia: comparative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survey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A9CBE-ECB6-454A-B49D-DE573F7D27C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6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12250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  Yihun Shegnew (Bsc.)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Advisors: Fentie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Ambaw (MA, Associate Professor)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              Eleni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Admassu (Bsc. MPH/RH)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			            				  							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				June, 2017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				Bahir Dar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Ethiopia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28600"/>
            <a:ext cx="7848600" cy="762000"/>
          </a:xfr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sz="360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7848600" cy="5181600"/>
          </a:xfr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Background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Objectives   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Methods 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Result &amp;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Discussion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&amp; Recommendation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SzPct val="100000"/>
              <a:buBlip>
                <a:blip r:embed="rId2"/>
              </a:buBlip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9B3A-C8A0-47AB-98E4-F25EA4F4767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47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1725" y="323874"/>
            <a:ext cx="9144000" cy="66779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sz="36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944" y="1287887"/>
            <a:ext cx="10024056" cy="4597758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 introduced in 2002 to increasing health awareness, knowledge and skills.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improve utilization of peripheral health services.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 between communities and health facilities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FMOH, Health </a:t>
            </a:r>
            <a:r>
              <a:rPr lang="en-US" sz="20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Extension Program in Ethiopia, </a:t>
            </a:r>
            <a:r>
              <a:rPr lang="en-US" sz="20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2007)</a:t>
            </a:r>
            <a:endParaRPr lang="en-US" sz="2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HEP designed to improve HSB of mothers </a:t>
            </a:r>
          </a:p>
          <a:p>
            <a:pPr algn="l"/>
            <a:r>
              <a:rPr lang="en-US" sz="20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(FMOH</a:t>
            </a:r>
            <a:r>
              <a:rPr lang="en-US" sz="20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Ethiopia Health extension program implementation revised </a:t>
            </a:r>
            <a:r>
              <a:rPr lang="en-US" sz="20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manual,2016</a:t>
            </a:r>
            <a:r>
              <a:rPr lang="en-US" sz="20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20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5287"/>
            <a:ext cx="10515600" cy="62285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5130"/>
            <a:ext cx="10515600" cy="538183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r>
              <a:rPr lang="en-US" sz="2800" b="1" dirty="0"/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Even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access of health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facility child deaths is high.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sz="20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EDHS, 2011</a:t>
            </a:r>
            <a:r>
              <a:rPr lang="en-US" sz="2000" i="1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i="1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might due to delay of mothers' HSB.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Improving HHs’ HBS contribute significantly to reduce the child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i="1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USAID health extension package program Ethiopia, 2012)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16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687088"/>
              </p:ext>
            </p:extLst>
          </p:nvPr>
        </p:nvGraphicFramePr>
        <p:xfrm>
          <a:off x="838200" y="2342263"/>
          <a:ext cx="10515600" cy="1880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838200" y="4550987"/>
            <a:ext cx="86460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far as my information no research done in the study area.</a:t>
            </a:r>
          </a:p>
        </p:txBody>
      </p:sp>
      <p:sp>
        <p:nvSpPr>
          <p:cNvPr id="3" name="Rectangle 2"/>
          <p:cNvSpPr/>
          <p:nvPr/>
        </p:nvSpPr>
        <p:spPr>
          <a:xfrm>
            <a:off x="839613" y="1705944"/>
            <a:ext cx="6005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health extension package works</a:t>
            </a:r>
          </a:p>
        </p:txBody>
      </p:sp>
    </p:spTree>
    <p:extLst>
      <p:ext uri="{BB962C8B-B14F-4D97-AF65-F5344CB8AC3E}">
        <p14:creationId xmlns:p14="http://schemas.microsoft.com/office/powerpoint/2010/main" val="384067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1820"/>
            <a:ext cx="10515600" cy="75985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7432"/>
            <a:ext cx="10515600" cy="4991482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b="1" i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</a:t>
            </a:r>
            <a:r>
              <a:rPr lang="en-US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:-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mothers’ HSB for HEWs and policy makers. 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awareness to the community through mass media.</a:t>
            </a:r>
          </a:p>
          <a:p>
            <a:pPr lvl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will use as a base line for other researchers who wants to conduct on the helpful of HEP and used to improve the guideline.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51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746" y="103032"/>
            <a:ext cx="10515600" cy="1205506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Frame work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129" y="1455313"/>
            <a:ext cx="7256505" cy="5267458"/>
          </a:xfrm>
        </p:spPr>
      </p:pic>
    </p:spTree>
    <p:extLst>
      <p:ext uri="{BB962C8B-B14F-4D97-AF65-F5344CB8AC3E}">
        <p14:creationId xmlns:p14="http://schemas.microsoft.com/office/powerpoint/2010/main" val="89266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2095"/>
            <a:ext cx="10515600" cy="67806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047" y="878774"/>
            <a:ext cx="11269782" cy="624642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objective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assess HEP completion and mothers’/care givers HSB for common childhood illness in west Gojjam,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prevalence of HSB of mothers’ for under five children between graduated HHs and non-graduated HHs in district.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associated factors affecting HSB of mothers’ among with under five children in the district between the graduated and non-graduated.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09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7650"/>
            <a:ext cx="10515600" cy="625475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Methods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82930" y="906483"/>
          <a:ext cx="11709070" cy="5643333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888920"/>
                <a:gridCol w="8820150"/>
              </a:tblGrid>
              <a:tr h="56479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Study design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Community based comparative cross 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sectional survey </a:t>
                      </a: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56479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Study </a:t>
                      </a: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period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February -April,</a:t>
                      </a: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</a:t>
                      </a: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2017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56479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Study </a:t>
                      </a: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area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South</a:t>
                      </a: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Achefer district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56479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Source population 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Mothers’ who had under-five children  in the district</a:t>
                      </a: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5305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Study population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Mothers’ who</a:t>
                      </a:r>
                      <a:r>
                        <a:rPr lang="en-US" sz="28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had under-five children with history of common childhood illness</a:t>
                      </a:r>
                      <a:endParaRPr lang="en-US" sz="28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80641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Inclusion criteria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Mothers had under-five child with history of common childhood illnesses</a:t>
                      </a: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1376133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Exclusion</a:t>
                      </a:r>
                      <a:r>
                        <a:rPr lang="en-US" sz="2800" b="0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criteria 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</a:t>
                      </a: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mother can’t communicate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599089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Methods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103742"/>
              </p:ext>
            </p:extLst>
          </p:nvPr>
        </p:nvGraphicFramePr>
        <p:xfrm>
          <a:off x="578068" y="509553"/>
          <a:ext cx="11309132" cy="5770086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3032235"/>
                <a:gridCol w="8276897"/>
              </a:tblGrid>
              <a:tr h="507747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Sample size </a:t>
                      </a: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determination 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Two population proportion ,</a:t>
                      </a: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calculated by STATA 12.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P1=&gt; HSB not-graduated for fever 22.4%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sz="2000" i="1" baseline="0" dirty="0" smtClean="0">
                          <a:solidFill>
                            <a:schemeClr val="accent5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(EDHS, 2011 Addis Ababa, Ethiopia, page 145</a:t>
                      </a:r>
                      <a:r>
                        <a:rPr lang="en-US" sz="2000" baseline="0" dirty="0" smtClean="0">
                          <a:solidFill>
                            <a:schemeClr val="accent5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)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Ø"/>
                      </a:pP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P2=&gt; HSB graduated for fever 37.4%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Ø"/>
                      </a:pP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15% was taken to detect the minimum difference.</a:t>
                      </a:r>
                    </a:p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Ø"/>
                      </a:pP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Design effect 1.5, (n=478 ; 239 from each group)</a:t>
                      </a: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69808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Sampling</a:t>
                      </a:r>
                      <a:r>
                        <a:rPr lang="en-US" sz="2800" b="0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procedures 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Random</a:t>
                      </a: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sampling, proportional allocation, SRST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7515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Data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collection tools &amp; procedures 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Interviewer</a:t>
                      </a:r>
                      <a:r>
                        <a:rPr lang="en-US" sz="28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based structured questionnaire </a:t>
                      </a:r>
                      <a:endParaRPr lang="en-US" sz="280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50774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Data</a:t>
                      </a:r>
                      <a:r>
                        <a:rPr lang="en-US" sz="2800" b="0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quality</a:t>
                      </a:r>
                      <a:endParaRPr lang="en-US" sz="2800" b="0" dirty="0">
                        <a:solidFill>
                          <a:srgbClr val="365F9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Pre-test,</a:t>
                      </a:r>
                      <a:r>
                        <a:rPr lang="en-US" sz="28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training , closer supervision</a:t>
                      </a:r>
                      <a:endParaRPr lang="en-US" sz="28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984726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None/>
                      </a:pPr>
                      <a:r>
                        <a:rPr lang="en-US" sz="2800" b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Data</a:t>
                      </a:r>
                      <a:r>
                        <a:rPr lang="en-US" sz="2800" b="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 analysis</a:t>
                      </a:r>
                      <a:endParaRPr lang="en-US" sz="2800" b="0" dirty="0">
                        <a:solidFill>
                          <a:schemeClr val="tx1"/>
                        </a:solidFill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Cspro</a:t>
                      </a:r>
                      <a:r>
                        <a:rPr lang="en-US" sz="28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6.3 , SPSS 23, bi &amp; multi-variable analysis, p-value and AOR</a:t>
                      </a:r>
                      <a:endParaRPr lang="en-US" sz="2800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81992" marR="81992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9001"/>
            <a:ext cx="10515600" cy="612337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Methods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C9B3A-C8A0-47AB-98E4-F25EA4F4767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1077" y="914400"/>
            <a:ext cx="11508826" cy="570711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Operational definitions </a:t>
            </a:r>
          </a:p>
          <a:p>
            <a:pPr lvl="0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HSB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visiting health facility when a mother sees fever, diarrhea, or cough in 	     her under five children.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HEPC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HH which completed the 16 health extension packages.</a:t>
            </a:r>
          </a:p>
          <a:p>
            <a:pPr lvl="0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Common childhood illness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Disease with three childhood illnesses </a:t>
            </a:r>
          </a:p>
          <a:p>
            <a:pPr lvl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                                           (diarrhea, fever and ARI)</a:t>
            </a:r>
          </a:p>
          <a:p>
            <a:pPr lvl="0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Diarrhea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determined as perceived by mother or caretaker three or more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         loose or watery stools per day, or blood in stool was reported.</a:t>
            </a:r>
          </a:p>
          <a:p>
            <a:pPr lvl="0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Fever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perceived by mother as fever or hot body for any child two weeks     	      preceding the survey.</a:t>
            </a:r>
          </a:p>
          <a:p>
            <a:pPr lvl="0"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ARI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all cases that had cough accompanied by short or rapid breathing in 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    the two weeks preceding the survey as perceived by mothers.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9575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Results and discussion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65200"/>
            <a:ext cx="10515600" cy="52117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Socio-demographic results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474(99.2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%) were biological mothers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rest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were grandmothers.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age was found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30.63 years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Majority of the mothers 424(88.7%) were farmers followed by merchant 48(10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%).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All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respondents from Amhara ethnic groups and Orthodox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Christians.</a:t>
            </a:r>
          </a:p>
          <a:p>
            <a:pPr>
              <a:lnSpc>
                <a:spcPct val="150000"/>
              </a:lnSpc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146(61.1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%) from graduated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&amp;193(80.7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%) from not-graduated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have not-formal education.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4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1"/>
            <a:ext cx="10515600" cy="5095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 and discussion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262421"/>
              </p:ext>
            </p:extLst>
          </p:nvPr>
        </p:nvGraphicFramePr>
        <p:xfrm>
          <a:off x="397566" y="598852"/>
          <a:ext cx="11184834" cy="6659880"/>
        </p:xfrm>
        <a:graphic>
          <a:graphicData uri="http://schemas.openxmlformats.org/drawingml/2006/table">
            <a:tbl>
              <a:tblPr firstRow="1" firstCol="1" bandRow="1">
                <a:tableStyleId>{69C7853C-536D-4A76-A0AE-DD22124D55A5}</a:tableStyleId>
              </a:tblPr>
              <a:tblGrid>
                <a:gridCol w="4529344"/>
                <a:gridCol w="3186203"/>
                <a:gridCol w="3469287"/>
              </a:tblGrid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Charactestics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Graduated Number (%)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Not-graduated Number (%)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care giver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mother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237(99.2)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237(99.2)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grandmother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2(0.2)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2(0.2)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marital status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single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3(1.25)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married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228(95)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228(95.4)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divorced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8(3.75)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7(3)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widowed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4(1.6)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Religion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Orthodox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239(100)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239(100)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occupation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farmer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215(90)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209(87)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merchant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19(8)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29(12)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government employ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5(2)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1(1)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Ethnicity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Amhara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239(100)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239(100)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mothers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≤ 30 years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123(51.5)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107(45)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≥ 31 years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116(48.5)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132(55)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Educational status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not-formal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146(61)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193(81)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formal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93(39)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46(19)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Monthly income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less than 1347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100(42)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139(58)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greater/equal 1347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139(58)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100(42)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Number of Under five children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one child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165(69)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177(74)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more than one child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74(31)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62(26)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Household size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2-5 family members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169(70.7)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180(75)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 and above family member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70(29.3)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59(25)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Sex of child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Female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128(53.5)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162(68)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Male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111(46.5)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77(32)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child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0-23 months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126(52.7)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119(48.7)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  <a:tr h="153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24-59 months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113(47.3)</a:t>
                      </a:r>
                      <a:endParaRPr lang="en-US" sz="1000" b="1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120(50.3)</a:t>
                      </a:r>
                      <a:endParaRPr lang="en-US" sz="10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8031" marR="48031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69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49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Results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001306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Childhood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illnesses</a:t>
            </a:r>
          </a:p>
          <a:p>
            <a:pPr marL="457200" lvl="1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Graduated households HSB was 118(49.4%) and not-graduated 79(33.1%).</a:t>
            </a:r>
          </a:p>
          <a:p>
            <a:pPr marL="457200" lvl="1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Overall HSB for common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childhood illness was 197(41.2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%).</a:t>
            </a:r>
          </a:p>
          <a:p>
            <a:pPr marL="457200" lvl="1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174(88.3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%) of mothers made decision for seeking medical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care.</a:t>
            </a:r>
          </a:p>
          <a:p>
            <a:pPr marL="457200" lvl="1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nly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23(11.7%) of decision were made by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fathers.</a:t>
            </a:r>
          </a:p>
          <a:p>
            <a:pPr marL="457200" lvl="1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Care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was sought on the same day of illness were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14400" lvl="2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82(69.5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%) for the graduated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households.</a:t>
            </a:r>
          </a:p>
          <a:p>
            <a:pPr marL="914400" lvl="2" indent="-457200">
              <a:spcBef>
                <a:spcPts val="1000"/>
              </a:spcBef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36(45.5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%) for the counterpart. </a:t>
            </a:r>
          </a:p>
          <a:p>
            <a:pPr marL="0" lvl="1" indent="0">
              <a:spcBef>
                <a:spcPts val="1000"/>
              </a:spcBef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1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748146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973777"/>
            <a:ext cx="10989623" cy="520318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HSB and Graduation status</a:t>
            </a:r>
          </a:p>
          <a:p>
            <a:pPr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Mothers from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graduated households had 5.9 times more likely to seek medical care than mothers from not-graduated households [AOR=5.95(2.415, 14.66)]. </a:t>
            </a:r>
          </a:p>
          <a:p>
            <a:pPr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who had family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members 2-5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household were 3.49 times more likely to seek health care for diarrhea than those having greater than or equal 6 family members in the household [AOR=3.498(1.113,10.991)]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perceived for diarrhea was sever three times more likely to seek health care compared to diarrhea was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mild [AOR=3.05(0.129,0.832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)].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55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434" y="92765"/>
            <a:ext cx="10515600" cy="26504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Results and 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1521387"/>
              </p:ext>
            </p:extLst>
          </p:nvPr>
        </p:nvGraphicFramePr>
        <p:xfrm>
          <a:off x="265045" y="410813"/>
          <a:ext cx="11330607" cy="6351213"/>
        </p:xfrm>
        <a:graphic>
          <a:graphicData uri="http://schemas.openxmlformats.org/drawingml/2006/table">
            <a:tbl>
              <a:tblPr firstRow="1" firstCol="1" bandRow="1">
                <a:tableStyleId>{327F97BB-C833-4FB7-BDE5-3F7075034690}</a:tableStyleId>
              </a:tblPr>
              <a:tblGrid>
                <a:gridCol w="2893845"/>
                <a:gridCol w="840150"/>
                <a:gridCol w="2427100"/>
                <a:gridCol w="2584756"/>
                <a:gridCol w="2584756"/>
              </a:tblGrid>
              <a:tr h="126945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900" b="0" i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Variables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Health Seeking Behavior</a:t>
                      </a:r>
                    </a:p>
                  </a:txBody>
                  <a:tcPr marL="49103" marR="49103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92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COR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AOR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Graduation status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Not-graduated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Graduated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8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8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en-US" sz="8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4.56(2.14,9.75)*</a:t>
                      </a:r>
                      <a:endParaRPr lang="en-US" sz="9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5.95(2.42,14.66)**</a:t>
                      </a:r>
                      <a:endParaRPr lang="en-US" sz="9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mothers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≤ 30 years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≥ 31 years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27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37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1.135(0.550,2.344)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1.32(0.311,1.86)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Educational status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Not-formal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Formal 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1.33(0.59,2.97)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1.28(0.3,2.05)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Monthly income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 1347 birr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1347 birr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1.259(0.389,1.622)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1.49(0.59,3.83)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Under-5 children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child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or more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0.299(0.12,0.76) *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2.39(0.74,7.69)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Household size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2-5 members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6 members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3.34(0.12,0.76) *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9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3.498(1.11,10.99)**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9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Perceived severity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Mild 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sever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2.822(1.312,6.05) *</a:t>
                      </a:r>
                      <a:endParaRPr lang="en-US" sz="9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1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3.05(0.13,0.83)**</a:t>
                      </a:r>
                      <a:endParaRPr lang="en-US" sz="900" b="1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Sex of child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Female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Male 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39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21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2.089(1.02,4.26) *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1.588(0.68,3.71)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  <a:tr h="66208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child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24-59 months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0-23 months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29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1.591(0.79,3.22) *</a:t>
                      </a:r>
                      <a:endParaRPr lang="en-US" sz="900" b="0" i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900" b="0" i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1.566(0.676,3.629)</a:t>
                      </a:r>
                      <a:endParaRPr lang="en-US" sz="900" b="0" i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9103" marR="49103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75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18" y="356260"/>
            <a:ext cx="10515600" cy="4750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55023"/>
            <a:ext cx="10515600" cy="5664530"/>
          </a:xfrm>
        </p:spPr>
        <p:txBody>
          <a:bodyPr>
            <a:no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Factors associated with HSB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graduated HHs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age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mothers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under-five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children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>
                <a:latin typeface="Times New Roman" pitchFamily="18" charset="0"/>
                <a:cs typeface="Times New Roman" pitchFamily="18" charset="0"/>
              </a:rPr>
              <a:t>household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members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years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graduation</a:t>
            </a:r>
          </a:p>
          <a:p>
            <a:pPr marL="457200" lvl="1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not-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graduated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HHs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educational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status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monthly income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perceived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severity</a:t>
            </a: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sex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child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14400" lvl="2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age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child were significantly related with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HSB.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66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57001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6904"/>
            <a:ext cx="10515600" cy="546264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 graduated households’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≥ 30 years 2.7 times more likely to seek health than 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30 years [AOR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=2.73(0.198, 0.67)].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under-five child was showed statistically significant association 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mothers’ HSB.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Households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one under-five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child had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eleven times more likely to sought health care than households with greater than one child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AOR=11.32(3.894,32.927)].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who had 2-5 family members two times more likely to seek medical care than those had greater than 5 family members in the household [AOR=2.26(1.138,4.491)].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Health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seeking behavior also determined by the household years of after graduation, mothers with 4-7 years after graduation had 7 times more likely to seek medical care that those who were 1-3 years of after graduation [AOR=7.4(0.050,0.358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)].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66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452" y="113335"/>
            <a:ext cx="10515600" cy="45651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Result and …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97141"/>
              </p:ext>
            </p:extLst>
          </p:nvPr>
        </p:nvGraphicFramePr>
        <p:xfrm>
          <a:off x="357810" y="783114"/>
          <a:ext cx="10853529" cy="59357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4661"/>
                <a:gridCol w="673376"/>
                <a:gridCol w="2188476"/>
                <a:gridCol w="2693508"/>
                <a:gridCol w="2693508"/>
              </a:tblGrid>
              <a:tr h="191654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Variables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Health seeking behavior for graduated households(n=239)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77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COR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AOR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mothers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&lt;= 30 years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31 years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2.551(1.515,4.297) 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2.73(0.1980.673)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Educational status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Not-formal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Formal 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1.651(0.977,2.790)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1.75(0.2701.199)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Monthly income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 1347 birr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1347 birr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68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1.04(0.573,1.601)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1.159(0.569,2.359)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 </a:t>
                      </a: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 child</a:t>
                      </a:r>
                      <a:endParaRPr lang="en-US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child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or more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0.395(0.22,0.7)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11.32(3.894,32.93)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Household size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2-5 members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6 members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2.02(0.279,0.876) *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2.26(1.14,4.49) **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Perceived severity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Mild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Sever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2.313(1.372,3.899)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2(0.27,0.92)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Sex of child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Female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Male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1.584(0.949,2.643) *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1.66(0.33,1.11)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574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child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24-59 months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0-23 months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2.232(1.329,3.748) *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1.632(.88,3.03)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  <a:tr h="7666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Years of graduation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1-3 years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4-7 years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US" sz="1050" b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  <a:endParaRPr lang="en-US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1.747(1.04,2.93) *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7.4(0.05,0.36) **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1446" marR="61446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817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748146"/>
          </a:xfrm>
        </p:spPr>
        <p:txBody>
          <a:bodyPr/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3152"/>
            <a:ext cx="10515600" cy="5640779"/>
          </a:xfrm>
        </p:spPr>
        <p:txBody>
          <a:bodyPr>
            <a:no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HSB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not-graduated HHs</a:t>
            </a:r>
          </a:p>
          <a:p>
            <a:pPr marL="457200" lvl="1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Monthly income ≥1347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ETB 2.7 times more likely to sought health care for common childhood illnesses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than ≤ 1347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ETB [AOR=2.74(0.1760.757)].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with formal education were 2.73 times more likely to seek health care than those had not-formal education [AOR=2.73(0.167, 0.803)].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Sex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ill child was one of the factors that determine the HSB of not-graduated households.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who had male child was 2.7 times more likely to seek health care than those having female child [AOR=2.732(1.365,5.471)]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>
              <a:spcBef>
                <a:spcPts val="1000"/>
              </a:spcBef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who had 0-23 months of age were two times more likely to seek medical care compared to mothers having 24-59 months of age in the not-graduated households [AOR=2.017(1.070,3.801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)].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66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3732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Results and …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6790062"/>
              </p:ext>
            </p:extLst>
          </p:nvPr>
        </p:nvGraphicFramePr>
        <p:xfrm>
          <a:off x="384316" y="437321"/>
          <a:ext cx="11224586" cy="64101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00077"/>
                <a:gridCol w="749351"/>
                <a:gridCol w="2488772"/>
                <a:gridCol w="2543193"/>
                <a:gridCol w="2543193"/>
              </a:tblGrid>
              <a:tr h="147430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Variables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Health seeking behavior for not-graduated households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47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Yes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COR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AOR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6519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mothers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&lt;= 30 years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31 years</a:t>
                      </a:r>
                      <a:endParaRPr lang="en-US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  <a:endParaRPr lang="en-US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1.515(0.87,2.63) *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1.45(0.35,1.35)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6519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Educational status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Not-formal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Formal 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2.446(1.27,4.72)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2.73(0.17,0.8)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7451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Monthly income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&lt; 1347 birr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1347 birr</a:t>
                      </a:r>
                      <a:endParaRPr lang="en-US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en-US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1.847(1.07,3.19)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2.74(0.177,0.76)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7451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 5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child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or more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2.24(0.225,0.884) *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2.25(0.993,5.088)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05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7451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Household size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2-5 members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&gt;= 6 members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113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2.322(1.151,4.687) *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1.799(0.788,4.107)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7451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Perceived severity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Mild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Sever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56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1.31(2.734,8.837)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1.25(0.119,0.437)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7451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Sex of child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Female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Male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118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41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2.235(1.268,3.939)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2.732(1.365,5.471)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  <a:tr h="7451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Age of child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24-59 months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0-23 months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89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</a:t>
                      </a:r>
                      <a:endParaRPr lang="en-US" sz="105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1.941(1.121,3.36) *</a:t>
                      </a:r>
                      <a:endParaRPr lang="en-US" sz="1050" b="1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2.017(1.070,3.801) **</a:t>
                      </a:r>
                      <a:endParaRPr lang="en-US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45952" marR="4595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22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482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8274"/>
            <a:ext cx="10515600" cy="5288689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Seeking health care for common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childhood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illnesses from health facility has a great potential to reduce child mortality.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verall HSB of mothers’ was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41.2 %( 95% CI: 36.6%, 45.6%).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Graduated HHs were 2 times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more likely to seek health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care than not-graduated.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might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due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to the awareness of health care for graduated mothers.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Graduating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HEP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was significant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diarrhea.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could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diarrhea is more visible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than other reported illnesses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3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482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88274"/>
            <a:ext cx="10761617" cy="5288689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49.4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%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graduated and 33.1%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not-graduated were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seek medical care.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However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it’s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lower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Oromia region,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87%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Urban slum Dhaka city, 90% of mothers/caregiver sought medical care </a:t>
            </a:r>
            <a:r>
              <a:rPr lang="en-US" sz="22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i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Mahejabin F, Parveen S, Ibrahim F. </a:t>
            </a:r>
            <a:r>
              <a:rPr lang="en-US" sz="22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2014;7:6-7</a:t>
            </a:r>
            <a:r>
              <a:rPr lang="en-US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i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Assefa T, </a:t>
            </a:r>
            <a:r>
              <a:rPr lang="en-US" sz="22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Belachew T, Ayalew Tegegn, Deribew A. November </a:t>
            </a:r>
            <a:r>
              <a:rPr lang="en-US" sz="2200" i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2008;18(3</a:t>
            </a:r>
            <a:r>
              <a:rPr lang="en-US" sz="22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))</a:t>
            </a:r>
            <a:endParaRPr lang="en-US" dirty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Difference might be educational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status, culture, economic status, study period and residences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Mothers from both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groups who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had male children were more likely to seek health care than who had female.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is supported by a study done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Kenya.</a:t>
            </a:r>
          </a:p>
          <a:p>
            <a:pPr marL="0" indent="0">
              <a:buNone/>
            </a:pPr>
            <a:r>
              <a:rPr lang="en-US" sz="2200" i="1" dirty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    (</a:t>
            </a:r>
            <a:r>
              <a:rPr lang="en-US" sz="2200" i="1" dirty="0" smtClean="0">
                <a:solidFill>
                  <a:schemeClr val="accent5"/>
                </a:solidFill>
              </a:rPr>
              <a:t>Taffan </a:t>
            </a:r>
            <a:r>
              <a:rPr lang="en-US" sz="2200" i="1" dirty="0">
                <a:solidFill>
                  <a:schemeClr val="accent5"/>
                </a:solidFill>
              </a:rPr>
              <a:t>N, Chepngeno </a:t>
            </a:r>
            <a:r>
              <a:rPr lang="en-US" sz="2200" i="1" dirty="0" smtClean="0">
                <a:solidFill>
                  <a:schemeClr val="accent5"/>
                </a:solidFill>
              </a:rPr>
              <a:t>G </a:t>
            </a:r>
            <a:r>
              <a:rPr lang="en-US" sz="2200" i="1" dirty="0">
                <a:solidFill>
                  <a:schemeClr val="accent5"/>
                </a:solidFill>
              </a:rPr>
              <a:t>2005;10(3):40-5</a:t>
            </a:r>
            <a:r>
              <a:rPr lang="en-US" sz="2200" i="1" dirty="0" smtClean="0">
                <a:solidFill>
                  <a:schemeClr val="accent5"/>
                </a:solidFill>
              </a:rPr>
              <a:t>.</a:t>
            </a:r>
            <a:r>
              <a:rPr lang="en-US" sz="22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i="1" dirty="0" smtClean="0">
              <a:solidFill>
                <a:schemeClr val="accent5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Ethiopia there is a cultural influence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 give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priority for male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child.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3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30044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444137"/>
            <a:ext cx="11312433" cy="600891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graduated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HHs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who were age ≥ 31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years 2.7 times more likely to seek medical care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≤ 30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years. 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Studies in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Ethiopia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reported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positive relationship between maternal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age and HSB. </a:t>
            </a:r>
            <a:r>
              <a:rPr lang="en-US" sz="20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i="1" dirty="0">
                <a:solidFill>
                  <a:schemeClr val="accent5"/>
                </a:solidFill>
              </a:rPr>
              <a:t>Gelaw </a:t>
            </a:r>
            <a:r>
              <a:rPr lang="en-US" sz="2000" i="1" dirty="0" smtClean="0">
                <a:solidFill>
                  <a:schemeClr val="accent5"/>
                </a:solidFill>
              </a:rPr>
              <a:t>Y, </a:t>
            </a:r>
            <a:r>
              <a:rPr lang="en-US" sz="2000" i="1" dirty="0">
                <a:solidFill>
                  <a:schemeClr val="accent5"/>
                </a:solidFill>
              </a:rPr>
              <a:t>Biks </a:t>
            </a:r>
            <a:r>
              <a:rPr lang="en-US" sz="2000" i="1" dirty="0" smtClean="0">
                <a:solidFill>
                  <a:schemeClr val="accent5"/>
                </a:solidFill>
              </a:rPr>
              <a:t>G, </a:t>
            </a:r>
            <a:r>
              <a:rPr lang="en-US" sz="2000" i="1" dirty="0">
                <a:solidFill>
                  <a:schemeClr val="accent5"/>
                </a:solidFill>
              </a:rPr>
              <a:t>Alene </a:t>
            </a:r>
            <a:r>
              <a:rPr lang="en-US" sz="2000" i="1" dirty="0" smtClean="0">
                <a:solidFill>
                  <a:schemeClr val="accent5"/>
                </a:solidFill>
              </a:rPr>
              <a:t>K. </a:t>
            </a:r>
            <a:r>
              <a:rPr lang="en-US" sz="2000" i="1" dirty="0">
                <a:solidFill>
                  <a:schemeClr val="accent5"/>
                </a:solidFill>
              </a:rPr>
              <a:t>2014;7(1):</a:t>
            </a:r>
            <a:r>
              <a:rPr lang="en-US" sz="2000" i="1" dirty="0" smtClean="0">
                <a:solidFill>
                  <a:schemeClr val="accent5"/>
                </a:solidFill>
              </a:rPr>
              <a:t>7-8</a:t>
            </a:r>
            <a:r>
              <a:rPr lang="en-US" sz="2000" i="1" dirty="0" smtClean="0">
                <a:solidFill>
                  <a:schemeClr val="accent5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Life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experiences that help 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type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illness &amp; exposure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 knowledge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seek medical care than young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mothers.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not-graduated HHs whose income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≥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1347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birr were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times more likely to seek health care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incomes ≤ 1347 birr [AOR=2.74(0.177,0.76)].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it wasn’t a predictor for HSB of graduated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HHs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this might due to health information from health extension workers.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3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9382"/>
            <a:ext cx="10515600" cy="48213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Discussion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8274"/>
            <a:ext cx="10515600" cy="5288689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from not-graduated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HHs who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had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0-23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months two times more likely to seek medical care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child age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24-59 months. 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might be due to young infants were highly vulnerable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childhood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illness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elder.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mothers seek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due to frustration of illness or perceived the illness was more sever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231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8371"/>
            <a:ext cx="10515600" cy="1006475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Conclusion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7909"/>
            <a:ext cx="10892246" cy="494905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Mothers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from graduated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HHs seek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health care more than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not-graduated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Age of the mothers</a:t>
            </a:r>
          </a:p>
          <a:p>
            <a:pPr lvl="1"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Number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under-five children </a:t>
            </a:r>
          </a:p>
          <a:p>
            <a:pPr lvl="1"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Number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family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members</a:t>
            </a:r>
          </a:p>
          <a:p>
            <a:pPr lvl="1">
              <a:buBlip>
                <a:blip r:embed="rId2"/>
              </a:buBlip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Years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graduation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Showed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significant association for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HSB of mothers in graduated HHs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30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0971"/>
            <a:ext cx="10515600" cy="493599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Whereas not-graduated HHs showed significant associations for HSB</a:t>
            </a:r>
          </a:p>
          <a:p>
            <a:pPr lvl="1"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Educational status</a:t>
            </a:r>
          </a:p>
          <a:p>
            <a:pPr lvl="1">
              <a:buBlip>
                <a:blip r:embed="rId2"/>
              </a:buBlip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Monthly income</a:t>
            </a:r>
          </a:p>
          <a:p>
            <a:pPr lvl="1">
              <a:buBlip>
                <a:blip r:embed="rId2"/>
              </a:buBlip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Perceived severity</a:t>
            </a:r>
          </a:p>
          <a:p>
            <a:pPr lvl="1">
              <a:buBlip>
                <a:blip r:embed="rId2"/>
              </a:buBlip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Sex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of children </a:t>
            </a:r>
          </a:p>
          <a:p>
            <a:pPr lvl="1">
              <a:buBlip>
                <a:blip r:embed="rId2"/>
              </a:buBlip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Age children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104503"/>
            <a:ext cx="10515600" cy="1254035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Conclusion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32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137" y="143057"/>
            <a:ext cx="10515600" cy="6799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Recommendations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2960"/>
            <a:ext cx="10515600" cy="5603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Based on the above finding and conclusions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west Gojjam Zone Health Department and south Achefer district Health Office</a:t>
            </a:r>
          </a:p>
          <a:p>
            <a:pPr lvl="0"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Improve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and facilitate family planning services in the community to space and limit number of children.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Blip>
                <a:blip r:embed="rId2"/>
              </a:buBlip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HEWs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mobilize to increase the membership status of rural households to join the HEP by creating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awareness.</a:t>
            </a:r>
          </a:p>
          <a:p>
            <a:pPr lvl="0"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government bodies should intervene the sustainability of graduated households that don’t relapse from the graduation status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For Researchers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Further investigation on the effect of health extension package completion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12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137" y="143057"/>
            <a:ext cx="10515600" cy="67990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Recommendations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2960"/>
            <a:ext cx="10515600" cy="560396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Blip>
                <a:blip r:embed="rId2"/>
              </a:buBlip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Education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support and counseling should be given to community at large and particularly to the women regarding the importance of seeking medical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care.</a:t>
            </a:r>
          </a:p>
          <a:p>
            <a:pPr lvl="0">
              <a:buBlip>
                <a:blip r:embed="rId2"/>
              </a:buBlip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Deliver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pertinent health information and health education regarding common childhood illness to develop knowledge, change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attitude for households..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16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881"/>
            <a:ext cx="10515600" cy="770708"/>
          </a:xfrm>
        </p:spPr>
        <p:txBody>
          <a:bodyPr/>
          <a:lstStyle/>
          <a:p>
            <a:pPr algn="ctr"/>
            <a:r>
              <a:rPr lang="en-US" dirty="0" smtClean="0"/>
              <a:t>	Sample 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7" y="1097280"/>
            <a:ext cx="11456124" cy="7302137"/>
          </a:xfrm>
        </p:spPr>
        <p:txBody>
          <a:bodyPr>
            <a:noAutofit/>
          </a:bodyPr>
          <a:lstStyle/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1.WHO, World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Health Organization Statistics. 2009.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2.UNICEF, Committing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Child Survival Progress Report. United Nations Plaza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New york; USA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2012.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3.FMOH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Health Extension Program in Ethiopia, Health Extension and Education Centre. Addis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Ababa, 2007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4.FMOH, Ethiopia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Health extension program implementation revised manual. 2016.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5.FMOH, Health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Extension Program in Ethiopia Profile.  Health Extension and Education Center, Federal Ministry of Health, Addis Ababa, Ethiopia. June 2007. p. 2.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6.FMOH, 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Report on the Assessment of Factors Contributing to and Affecting Performance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of health extension workers, September 2008.</a:t>
            </a:r>
          </a:p>
          <a:p>
            <a:pPr marL="1371600" lvl="3" indent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0" lvl="3" indent="0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371600" lvl="3" indent="0">
              <a:buNone/>
            </a:pP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 smtClean="0"/>
              <a:t>48. Mbagaya </a:t>
            </a:r>
            <a:r>
              <a:rPr lang="en-US" sz="1600" dirty="0"/>
              <a:t>G, Odhiambo M, Oniang’o R. Mother’s health seeking behavior during child illness in a rural western Kenya community. </a:t>
            </a:r>
            <a:r>
              <a:rPr lang="en-US" sz="1600" dirty="0" smtClean="0"/>
              <a:t>Africa </a:t>
            </a:r>
            <a:r>
              <a:rPr lang="en-US" sz="1600" dirty="0"/>
              <a:t>Health Science. 2005;5(4).</a:t>
            </a:r>
          </a:p>
          <a:p>
            <a:r>
              <a:rPr lang="en-US" sz="1600" dirty="0" smtClean="0"/>
              <a:t>49.UNICEF</a:t>
            </a:r>
            <a:r>
              <a:rPr lang="en-US" sz="1600" dirty="0"/>
              <a:t>,</a:t>
            </a:r>
            <a:r>
              <a:rPr lang="en-US" sz="1600" dirty="0" smtClean="0"/>
              <a:t> </a:t>
            </a:r>
            <a:r>
              <a:rPr lang="en-US" sz="1600" dirty="0"/>
              <a:t>Pneumonia and diarrhea tackling the deadliest diseases for the world’s poorest children</a:t>
            </a:r>
            <a:r>
              <a:rPr lang="en-US" sz="1600" dirty="0" smtClean="0"/>
              <a:t>. </a:t>
            </a:r>
            <a:r>
              <a:rPr lang="en-US" sz="1600" dirty="0"/>
              <a:t>New York USA. 2012 </a:t>
            </a:r>
          </a:p>
          <a:p>
            <a:r>
              <a:rPr lang="en-US" sz="1600" dirty="0" smtClean="0"/>
              <a:t>50.Assefa </a:t>
            </a:r>
            <a:r>
              <a:rPr lang="en-US" sz="1600" dirty="0"/>
              <a:t>T, Belachew T, Ayalew Tegegn, Deribew A. MOTHERS’  HEALTH  CARE  SEEKING  BEHAVIOR  FOR  CHILDHOOD ILLNESSES  IN  DERRA  DISTRICT,  NORTHSHOA  ZONE,  OROMIA REGIONAL STATE, ETHIOPIA. Ethiop J Health Sci November 2008;18(3).</a:t>
            </a:r>
          </a:p>
          <a:p>
            <a:r>
              <a:rPr lang="en-US" sz="1600" dirty="0" smtClean="0"/>
              <a:t>51.BoFD,  </a:t>
            </a:r>
            <a:r>
              <a:rPr lang="en-US" sz="1600" dirty="0"/>
              <a:t>Amhara regiona state beruea of finance and development  Conversion factors of socio demographic indicators. 2016.</a:t>
            </a:r>
          </a:p>
          <a:p>
            <a:pPr marL="0" indent="0">
              <a:buNone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76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3412"/>
          </a:xfrm>
        </p:spPr>
        <p:txBody>
          <a:bodyPr/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Acknowledgment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549" y="1931832"/>
            <a:ext cx="10774251" cy="4572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would like to thanks to my advisors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Fentie Ambaw (MA, Associate professor)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Eleni Admassu (BSc, MPH/RH)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 would like to thank Bahir Dar University, college of Medicine and health science, school 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 health.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participants, Data collectors and supervisor. </a:t>
            </a:r>
          </a:p>
          <a:p>
            <a:pPr>
              <a:lnSpc>
                <a:spcPct val="150000"/>
              </a:lnSpc>
              <a:buSzPct val="200000"/>
              <a:buFont typeface="Wingdings" pitchFamily="2" charset="2"/>
              <a:buChar char="ü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A9CBE-ECB6-454A-B49D-DE573F7D27C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1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7646"/>
            <a:ext cx="10515600" cy="5419317"/>
          </a:xfrm>
        </p:spPr>
        <p:txBody>
          <a:bodyPr/>
          <a:lstStyle/>
          <a:p>
            <a:pPr marL="0" indent="0" algn="ctr">
              <a:buNone/>
            </a:pPr>
            <a:endParaRPr lang="en-US" dirty="0" smtClean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dirty="0">
              <a:latin typeface="Arial Black" pitchFamily="34" charset="0"/>
            </a:endParaRPr>
          </a:p>
          <a:p>
            <a:pPr marL="0" indent="0" algn="ctr">
              <a:buNone/>
            </a:pPr>
            <a:endParaRPr lang="en-US" dirty="0" smtClean="0">
              <a:latin typeface="Arial Black" pitchFamily="34" charset="0"/>
            </a:endParaRPr>
          </a:p>
          <a:p>
            <a:pPr marL="0" indent="0" algn="ctr">
              <a:buNone/>
            </a:pPr>
            <a:r>
              <a:rPr lang="en-US" sz="6000" dirty="0" smtClean="0">
                <a:latin typeface="Arial Black" pitchFamily="34" charset="0"/>
              </a:rPr>
              <a:t>Thanks</a:t>
            </a:r>
            <a:r>
              <a:rPr lang="en-US" sz="6000" dirty="0">
                <a:latin typeface="Arial Black" pitchFamily="34" charset="0"/>
              </a:rPr>
              <a:t>!!!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863768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2292</Words>
  <Application>Microsoft Office PowerPoint</Application>
  <PresentationFormat>Custom</PresentationFormat>
  <Paragraphs>747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 </vt:lpstr>
      <vt:lpstr>Title </vt:lpstr>
      <vt:lpstr>PowerPoint Presentation</vt:lpstr>
      <vt:lpstr>Outline</vt:lpstr>
      <vt:lpstr>Background </vt:lpstr>
      <vt:lpstr>Background</vt:lpstr>
      <vt:lpstr>Background</vt:lpstr>
      <vt:lpstr>Background</vt:lpstr>
      <vt:lpstr>Background  Conceptual Frame work</vt:lpstr>
      <vt:lpstr>Objectives</vt:lpstr>
      <vt:lpstr>Methods</vt:lpstr>
      <vt:lpstr>Methods</vt:lpstr>
      <vt:lpstr>Methods</vt:lpstr>
      <vt:lpstr>Results and discussion </vt:lpstr>
      <vt:lpstr>Results and discussion </vt:lpstr>
      <vt:lpstr>Results </vt:lpstr>
      <vt:lpstr>Results</vt:lpstr>
      <vt:lpstr>Results and …</vt:lpstr>
      <vt:lpstr>Results</vt:lpstr>
      <vt:lpstr>Results</vt:lpstr>
      <vt:lpstr>Result and … </vt:lpstr>
      <vt:lpstr>Results</vt:lpstr>
      <vt:lpstr>Results and … </vt:lpstr>
      <vt:lpstr>Discussion </vt:lpstr>
      <vt:lpstr>Discussion </vt:lpstr>
      <vt:lpstr>Discussion </vt:lpstr>
      <vt:lpstr>Discussion </vt:lpstr>
      <vt:lpstr>Conclusion </vt:lpstr>
      <vt:lpstr>Conclusion </vt:lpstr>
      <vt:lpstr>Recommendations </vt:lpstr>
      <vt:lpstr>Recommendations </vt:lpstr>
      <vt:lpstr> Sample references </vt:lpstr>
      <vt:lpstr>Acknowledgment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Bahir Dar University College of Medicine and Health Science  School of public health </dc:title>
  <dc:creator>yihun shegnew</dc:creator>
  <cp:lastModifiedBy>yihun</cp:lastModifiedBy>
  <cp:revision>181</cp:revision>
  <cp:lastPrinted>2017-06-07T07:31:23Z</cp:lastPrinted>
  <dcterms:created xsi:type="dcterms:W3CDTF">2017-05-29T06:36:46Z</dcterms:created>
  <dcterms:modified xsi:type="dcterms:W3CDTF">2017-06-07T08:49:39Z</dcterms:modified>
</cp:coreProperties>
</file>